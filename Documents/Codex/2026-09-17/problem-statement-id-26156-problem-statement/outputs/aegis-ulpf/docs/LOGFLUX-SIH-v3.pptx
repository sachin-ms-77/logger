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5916ee9eaf49eb" /><Relationship Type="http://schemas.openxmlformats.org/officeDocument/2006/relationships/extended-properties" Target="/docProps/app.xml" Id="R561e091aa3fe437a" /><Relationship Type="http://schemas.openxmlformats.org/officeDocument/2006/relationships/officeDocument" Target="/ppt/presentation.xml" Id="R59af237156ae4a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52b078b54d4641"/>
  </p:sldMasterIdLst>
  <p:notesMasterIdLst>
    <p:notesMasterId xmlns:r="http://schemas.openxmlformats.org/officeDocument/2006/relationships" r:id="Rc7895e422aa94f37"/>
  </p:notesMasterIdLst>
  <p:sldIdLst>
    <p:sldId xmlns:r="http://schemas.openxmlformats.org/officeDocument/2006/relationships" id="256" r:id="R884df2f23ce74f02"/>
    <p:sldId xmlns:r="http://schemas.openxmlformats.org/officeDocument/2006/relationships" id="257" r:id="Rd2c77d6d47274b4b"/>
    <p:sldId xmlns:r="http://schemas.openxmlformats.org/officeDocument/2006/relationships" id="258" r:id="R0761b8d5cdae4c85"/>
    <p:sldId xmlns:r="http://schemas.openxmlformats.org/officeDocument/2006/relationships" id="259" r:id="R3e9cd8cc764f4888"/>
    <p:sldId xmlns:r="http://schemas.openxmlformats.org/officeDocument/2006/relationships" id="260" r:id="R3256f90859a142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ac17596b0b43d8" /><Relationship Type="http://schemas.openxmlformats.org/officeDocument/2006/relationships/slideMaster" Target="/ppt/slideMasters/slideMaster1.xml" Id="Raa52b078b54d4641" /><Relationship Type="http://schemas.openxmlformats.org/officeDocument/2006/relationships/notesMaster" Target="/ppt/notesMasters/notesMaster1.xml" Id="Rc7895e422aa94f37" /><Relationship Type="http://schemas.openxmlformats.org/officeDocument/2006/relationships/presProps" Target="/ppt/presProps.xml" Id="Rbacc4932ab9e4034" /><Relationship Type="http://schemas.openxmlformats.org/officeDocument/2006/relationships/tableStyles" Target="/ppt/tableStyles.xml" Id="R667d0675144f4fe2" /><Relationship Type="http://schemas.openxmlformats.org/officeDocument/2006/relationships/slide" Target="/ppt/slides/slide1.xml" Id="R884df2f23ce74f02" /><Relationship Type="http://schemas.openxmlformats.org/officeDocument/2006/relationships/slide" Target="/ppt/slides/slide2.xml" Id="Rd2c77d6d47274b4b" /><Relationship Type="http://schemas.openxmlformats.org/officeDocument/2006/relationships/slide" Target="/ppt/slides/slide3.xml" Id="R0761b8d5cdae4c85" /><Relationship Type="http://schemas.openxmlformats.org/officeDocument/2006/relationships/slide" Target="/ppt/slides/slide4.xml" Id="R3e9cd8cc764f4888" /><Relationship Type="http://schemas.openxmlformats.org/officeDocument/2006/relationships/slide" Target="/ppt/slides/slide5.xml" Id="R3256f90859a142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cccb34fcdf47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beaa6faa314e15" /><Relationship Type="http://schemas.openxmlformats.org/officeDocument/2006/relationships/notesMaster" Target="/ppt/notesMasters/notesMaster1.xml" Id="R67bd781f447944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f463f677874d69" /><Relationship Type="http://schemas.openxmlformats.org/officeDocument/2006/relationships/notesMaster" Target="/ppt/notesMasters/notesMaster1.xml" Id="Rcd23131cd6014d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ec1a20df95403a" /><Relationship Type="http://schemas.openxmlformats.org/officeDocument/2006/relationships/notesMaster" Target="/ppt/notesMasters/notesMaster1.xml" Id="R9e305e9b66344c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db609f86214be7" /><Relationship Type="http://schemas.openxmlformats.org/officeDocument/2006/relationships/notesMaster" Target="/ppt/notesMasters/notesMaster1.xml" Id="R4d2189e3138f4f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3340cfc26e4560" /><Relationship Type="http://schemas.openxmlformats.org/officeDocument/2006/relationships/notesMaster" Target="/ppt/notesMasters/notesMaster1.xml" Id="R74059d11538d45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SIH problem asks for a universal preprocessing layer across heterogeneous perimeter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shipped processing path. The receiver commits raw bytes before normalization.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screenshots are from the running local application. Synthetic traffic is labeled; the same UI accepts real device transports.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event inspector shows exact bytes, lineage and proof checks. Local witnesses share one host in this demonstrator.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separating measured prototype behavior from production validation still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476efc7c674f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ad79bb0dfa4d57" /><Relationship Type="http://schemas.openxmlformats.org/officeDocument/2006/relationships/slideLayout" Target="/ppt/slideLayouts/slideLayout1.xml" Id="R8a36e9c5beae48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36e9c5beae48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809fb41744d26" /><Relationship Type="http://schemas.openxmlformats.org/officeDocument/2006/relationships/notesSlide" Target="/ppt/notesSlides/notesSlide1.xml" Id="Rcad9b170bac144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c269284935410d" /><Relationship Type="http://schemas.openxmlformats.org/officeDocument/2006/relationships/notesSlide" Target="/ppt/notesSlides/notesSlide2.xml" Id="Rdd57b4070aea46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1b8e55ca948a2" /><Relationship Type="http://schemas.openxmlformats.org/officeDocument/2006/relationships/image" Target="/ppt/media/image.jpeg" Id="Rd3e8150420ec4d05" /><Relationship Type="http://schemas.openxmlformats.org/officeDocument/2006/relationships/notesSlide" Target="/ppt/notesSlides/notesSlide3.xml" Id="Reb20f9f5a6f24d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cf607ec5140d6" /><Relationship Type="http://schemas.openxmlformats.org/officeDocument/2006/relationships/image" Target="/ppt/media/image2.jpeg" Id="Rb63e3721771143c3" /><Relationship Type="http://schemas.openxmlformats.org/officeDocument/2006/relationships/notesSlide" Target="/ppt/notesSlides/notesSlide4.xml" Id="R7788f9acb81045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5f064ee0b44c1" /><Relationship Type="http://schemas.openxmlformats.org/officeDocument/2006/relationships/notesSlide" Target="/ppt/notesSlides/notesSlide5.xml" Id="R059055929a304d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BF83A1-5DAD-4497-939D-8294D3CB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01 /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ABF20-1BE9-4B54-B1B5-1CE494D9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The problem is fragmented telemetry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89B7F-E270-456D-8FA9-2865BA80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AEGIS · SIH PS 26156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97D841-61F7-45DC-BC52-F00B4EFC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495300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Every device speaks a different dialect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14B226-E18C-46B7-B52A-23F4517F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53340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Teams need one evidence-preserving path into analytics, SIEM and investigation.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87CF0-8A69-4D5E-B044-CD935EC0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4953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13BF3-F91D-4FE9-8AD4-2BB24880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1190625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Formats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80DB5C-A806-441A-B5F7-79E5BEE9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14650"/>
            <a:ext cx="33337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Syslog · JSON · XML · CSV · CEF · LEEF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21BC3-12C0-4204-8A7F-4EED892A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05200"/>
            <a:ext cx="4953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FBB21A-0360-4CB3-A678-CA1D6AE3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1190625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Sources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76701-F1DC-4EF8-AA4C-319232CB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657600"/>
            <a:ext cx="33337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Firewall · router · IDS · cloud · application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772365-D51B-4633-AA58-1958658E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49530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E08039-48F5-484B-B4C7-C19592D0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1190625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Risks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38AF71-94A4-4412-8B1B-207D41FA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00550"/>
            <a:ext cx="333375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Parser drift · lost context · weak provenance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57367A-C2DF-49F3-BAAE-C6B52A1D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28750"/>
            <a:ext cx="4095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0D2733"/>
          </a:solidFill>
          <a:ln xmlns:a="http://schemas.openxmlformats.org/drawingml/2006/main" w="9525">
            <a:solidFill>
              <a:srgbClr val="39758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26D3DB-2FFC-49ED-907C-9150FBFC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28575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AB0C0"/>
                </a:solidFill>
                <a:latin typeface="Arial"/>
                <a:ea typeface="Arial"/>
                <a:cs typeface="Arial"/>
              </a:rPr>
              <a:t>RAW EVENT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638300-87D2-41F7-B645-14741CFD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571500" cy="333375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A4D062-3DF6-4A07-8285-9611763E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2857500" cy="619125"/>
          </a:xfrm>
          <a:prstGeom xmlns:a="http://schemas.openxmlformats.org/drawingml/2006/main" prst="roundRect">
            <a:avLst>
              <a:gd name="adj" fmla="val 1230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NORMALIZED</a:t>
            </a:r>
          </a:p>
          <a:p xmlns:a="http://schemas.openxmlformats.org/drawingml/2006/main">
            <a:pPr>
              <a:defRPr sz="18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EVENT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D5B101-6700-4557-9A0E-5137D02A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048000" cy="238125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Evidence has to survive the journey.</a:t>
            </a:r>
          </a:p>
        </p:txBody>
      </p:sp>
    </p:spTree>
    <p:extLst>
      <p:ext uri="{BB962C8B-B14F-4D97-AF65-F5344CB8AC3E}">
        <p14:creationId xmlns:p14="http://schemas.microsoft.com/office/powerpoint/2010/main" val="4168278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F3E1D4-F13E-4668-A3FC-19AA348E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02 /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C039A-6155-410E-B562-C61AD43A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AEGIS turns a message into a verifiable event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2FE48-3EA9-4DFD-BB8D-E628F3C0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AEGIS · SIH PS 26156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EF2AF-81C8-435F-BE9A-0356CC54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266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50B34-E927-4C8E-8E6F-6BF4E58F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14575"/>
            <a:ext cx="3429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4916F7-B0FE-4BBD-95F2-57DF0F0F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1857375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7B40F-8E0F-4872-8121-6813F082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TCP · UDP · TLS</a:t>
            </a:r>
          </a:p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HTTP · 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2FE4A-511D-4EBB-8D66-729D3D28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686050"/>
            <a:ext cx="3810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9CED96-4115-40F7-ADB3-A8B78907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95500"/>
            <a:ext cx="2266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7332E"/>
          </a:solidFill>
          <a:ln xmlns:a="http://schemas.openxmlformats.org/drawingml/2006/main" w="9525">
            <a:solidFill>
              <a:srgbClr val="B8F66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73507E-747E-4350-B2C3-DBC17D734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14575"/>
            <a:ext cx="3429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6DAE0-16FE-48E7-8B30-6DF93262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86050"/>
            <a:ext cx="1857375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PRESERVE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2FD751-88CD-4134-991A-F99C1B3B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86100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Raw bytes</a:t>
            </a:r>
          </a:p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SHA-256 · receipt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A9F990-E571-4D29-A043-362F708E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86050"/>
            <a:ext cx="3810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C3B957-200D-40BA-8445-090816FC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2266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F5524B-0FE9-4990-8ED6-3520796A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14575"/>
            <a:ext cx="3429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C754F5-8C26-4862-9B70-8DBC90B6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1857375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NORMALIZE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7B3A1F-D609-4853-A1CF-5A142277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86100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AEGIS fields</a:t>
            </a:r>
          </a:p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OCSF concepts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695469-CA88-4292-A193-A1607F75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86050"/>
            <a:ext cx="3810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1F11D0-0F73-4451-9933-0E246B75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22669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BAB2B7-FAE0-4A11-AA6A-6CD1FEC2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14575"/>
            <a:ext cx="3429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026E4C-E3D7-4F90-ACA0-94924CA5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86050"/>
            <a:ext cx="1857375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OPERATE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086BCC-9CEF-464E-8307-5AFFC33B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86100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Graph · cases</a:t>
            </a:r>
          </a:p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ECS · JSONL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0660F9-5756-4B05-A585-25B69C62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9715500" cy="4953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Unknown or drifted events enter a review queue. A signed parser can then replay retained events as a new revision.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3B8864-83FE-4E9F-B92B-04D4CFFB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67350"/>
            <a:ext cx="80962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Single-node demonstrator · distributed scale is a documented next phase</a:t>
            </a:r>
          </a:p>
        </p:txBody>
      </p:sp>
    </p:spTree>
    <p:extLst>
      <p:ext uri="{BB962C8B-B14F-4D97-AF65-F5344CB8AC3E}">
        <p14:creationId xmlns:p14="http://schemas.microsoft.com/office/powerpoint/2010/main" val="5122988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919C8B-4F36-40E9-A981-C101E3D6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03 / LIVE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3918A-E2BE-4473-8E63-D02852EE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The demo is a real control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85E07-D498-4B5E-8D88-2CBEB2F6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AEGIS · SIH PS 26156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e8150420ec4d05"/>
          <a:stretch xmlns:a="http://schemas.openxmlformats.org/drawingml/2006/main"/>
        </p:blipFill>
        <p:spPr>
          <a:xfrm xmlns:a="http://schemas.openxmlformats.org/drawingml/2006/main">
            <a:off x="685800" y="1670360"/>
            <a:ext cx="5238750" cy="3564905"/>
          </a:xfrm>
          <a:prstGeom xmlns:a="http://schemas.openxmlformats.org/drawingml/2006/main" prst="roundRect">
            <a:avLst>
              <a:gd name="adj" fmla="val 2353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994A6-AF2A-4A14-BBAE-E3464D26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28750"/>
            <a:ext cx="4762500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10222F"/>
          </a:solidFill>
          <a:ln xmlns:a="http://schemas.openxmlformats.org/drawingml/2006/main" w="9525">
            <a:solidFill>
              <a:srgbClr val="2B4A5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A2C4A-FBA8-41C4-AB1E-ED9E3B64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62125"/>
            <a:ext cx="2857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344A06-25AD-4057-84BC-8BBCE58D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33550"/>
            <a:ext cx="1238250" cy="238125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34BB0E-8139-44D7-8643-C4E4DAFF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38350"/>
            <a:ext cx="3429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Real TCP / UDP / TLS listeners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92221-037E-4306-8EF5-E1BF02B0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95550"/>
            <a:ext cx="2857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DDE95-4F20-4AF8-BA9A-F148CEBD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66975"/>
            <a:ext cx="1238250" cy="238125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D44BB-FB96-4091-A9ED-6E167F05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71775"/>
            <a:ext cx="3429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Local AI suggestion + semantic assertions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66AB7-7F38-4D68-9148-6833A34A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28975"/>
            <a:ext cx="2857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F7F144-8FBE-4361-97CB-5D743789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00400"/>
            <a:ext cx="1238250" cy="238125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816474-72E6-4D01-BA4D-F8CCA258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505200"/>
            <a:ext cx="3429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Ed25519 signed versioned plugin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DCB105-9CED-49E0-9982-08B7B49B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62400"/>
            <a:ext cx="285750" cy="247650"/>
          </a:xfrm>
          <a:prstGeom xmlns:a="http://schemas.openxmlformats.org/drawingml/2006/main" prst="roundRect">
            <a:avLst>
              <a:gd name="adj" fmla="val 3076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715BA3-C6D1-426E-B1AA-55421245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33825"/>
            <a:ext cx="1238250" cy="238125"/>
          </a:xfrm>
          <a:prstGeom xmlns:a="http://schemas.openxmlformats.org/drawingml/2006/main" prst="roundRect">
            <a:avLst>
              <a:gd name="adj" fmla="val 32000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Replay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719CFC-4A78-4597-8140-5216AE49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38625"/>
            <a:ext cx="3429000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New revision, original bytes unchanged</a:t>
            </a:r>
          </a:p>
        </p:txBody>
      </p:sp>
    </p:spTree>
    <p:extLst>
      <p:ext uri="{BB962C8B-B14F-4D97-AF65-F5344CB8AC3E}">
        <p14:creationId xmlns:p14="http://schemas.microsoft.com/office/powerpoint/2010/main" val="12273430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1A0747-6841-4BC9-B6A9-721A1A58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04 /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23DF2-B8D2-4E06-8A91-BA16522B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Evidence verification is visible to the operator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9BBAB-E310-4095-AB97-436AA5C0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AEGIS · SIH PS 26156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e3721771143c3"/>
          <a:stretch xmlns:a="http://schemas.openxmlformats.org/drawingml/2006/main"/>
        </p:blipFill>
        <p:spPr>
          <a:xfrm xmlns:a="http://schemas.openxmlformats.org/drawingml/2006/main">
            <a:off x="1057753" y="1428750"/>
            <a:ext cx="6018844" cy="4095750"/>
          </a:xfrm>
          <a:prstGeom xmlns:a="http://schemas.openxmlformats.org/drawingml/2006/main" prst="roundRect">
            <a:avLst>
              <a:gd name="adj" fmla="val 2326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1F560-1A9A-4288-9EBE-6C96452C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428750"/>
            <a:ext cx="3429000" cy="40957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A24"/>
          </a:solidFill>
          <a:ln xmlns:a="http://schemas.openxmlformats.org/drawingml/2006/main" w="9525">
            <a:solidFill>
              <a:srgbClr val="467D5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22FED-A4F4-4287-B20E-4FFAD24C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2286000" cy="333375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0B2A84-518D-4994-A592-FB22997D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428750"/>
          </a:xfrm>
          <a:prstGeom xmlns:a="http://schemas.openxmlformats.org/drawingml/2006/main" prst="roundRect">
            <a:avLst>
              <a:gd name="adj" fmla="val 5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Raw bytes</a:t>
            </a:r>
          </a:p>
          <a:p xmlns:a="http://schemas.openxmlformats.org/drawingml/2006/main">
            <a:pPr>
              <a:defRPr sz="165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Manifest</a:t>
            </a:r>
          </a:p>
          <a:p xmlns:a="http://schemas.openxmlformats.org/drawingml/2006/main">
            <a:pPr>
              <a:defRPr sz="165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Merkle proof</a:t>
            </a:r>
          </a:p>
          <a:p xmlns:a="http://schemas.openxmlformats.org/drawingml/2006/main">
            <a:pPr>
              <a:defRPr sz="1650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Ledger quorum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240CF-A4DB-4E88-AB88-1D60406A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76750"/>
            <a:ext cx="238125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3 witness signatures</a:t>
            </a:r>
          </a:p>
          <a:p xmlns:a="http://schemas.openxmlformats.org/drawingml/2006/main">
            <a:pPr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2 required</a:t>
            </a:r>
          </a:p>
          <a:p xmlns:a="http://schemas.openxmlformats.org/drawingml/2006/main">
            <a:pPr>
              <a:defRPr sz="97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Local custody caveat</a:t>
            </a:r>
          </a:p>
        </p:txBody>
      </p:sp>
    </p:spTree>
    <p:extLst>
      <p:ext uri="{BB962C8B-B14F-4D97-AF65-F5344CB8AC3E}">
        <p14:creationId xmlns:p14="http://schemas.microsoft.com/office/powerpoint/2010/main" val="237603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A81035-B984-4135-9B16-BC4013FF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9525000" cy="2286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05 /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F99E8-9724-4066-B1CC-454C21E3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0668000" cy="571500"/>
          </a:xfrm>
          <a:prstGeom xmlns:a="http://schemas.openxmlformats.org/drawingml/2006/main" prst="roundRect">
            <a:avLst>
              <a:gd name="adj" fmla="val 13333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EDF6FA"/>
                </a:solidFill>
                <a:latin typeface="Arial"/>
                <a:ea typeface="Arial"/>
                <a:cs typeface="Arial"/>
              </a:rPr>
              <a:t>What is shipped and what comes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F64B0-E0E9-472E-94E5-302A51882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286250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9AB0C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9AB0C0"/>
                </a:solidFill>
                <a:latin typeface="Arial"/>
                <a:ea typeface="Arial"/>
                <a:cs typeface="Arial"/>
              </a:rPr>
              <a:t>AEGIS · SIH PS 26156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9BDA5-52FC-4729-9287-BAAF7649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762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7332E"/>
          </a:solidFill>
          <a:ln xmlns:a="http://schemas.openxmlformats.org/drawingml/2006/main" w="9525">
            <a:solidFill>
              <a:srgbClr val="B8F66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A2517-3015-4B98-9772-E806C0F3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38100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F6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F66B"/>
                </a:solidFill>
                <a:latin typeface="Arial"/>
                <a:ea typeface="Arial"/>
                <a:cs typeface="Arial"/>
              </a:rPr>
              <a:t>SHIPPED 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27051-8A55-4857-9FC0-DEAC12CD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3952875" cy="1238250"/>
          </a:xfrm>
          <a:prstGeom xmlns:a="http://schemas.openxmlformats.org/drawingml/2006/main" prst="roundRect">
            <a:avLst>
              <a:gd name="adj" fmla="val 615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48 tests · real sockets · offline install</a:t>
            </a:r>
          </a:p>
          <a:p xmlns:a="http://schemas.openxmlformats.org/drawingml/2006/main">
            <a:pPr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local Qwen proposal · signed parsers</a:t>
            </a:r>
          </a:p>
          <a:p xmlns:a="http://schemas.openxmlformats.org/drawingml/2006/main">
            <a:pPr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JSONL / ECS / CSV · retry outbox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06D4C-EA26-4F3F-896E-6773ECAC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809750"/>
            <a:ext cx="476250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20222B"/>
          </a:solidFill>
          <a:ln xmlns:a="http://schemas.openxmlformats.org/drawingml/2006/main" w="9525">
            <a:solidFill>
              <a:srgbClr val="6B526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81D79-84DE-4275-8A2D-B1164B49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52650"/>
            <a:ext cx="38100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2C36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C36F"/>
                </a:solidFill>
                <a:latin typeface="Arial"/>
                <a:ea typeface="Arial"/>
                <a:cs typeface="Arial"/>
              </a:rPr>
              <a:t>NEXT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617076-2B14-47A3-BFE9-20D0977F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3952875" cy="1238250"/>
          </a:xfrm>
          <a:prstGeom xmlns:a="http://schemas.openxmlformats.org/drawingml/2006/main" prst="roundRect">
            <a:avLst>
              <a:gd name="adj" fmla="val 6154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Physical firewall/router models</a:t>
            </a:r>
          </a:p>
          <a:p xmlns:a="http://schemas.openxmlformats.org/drawingml/2006/main">
            <a:pPr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Docker build on target host</a:t>
            </a:r>
          </a:p>
          <a:p xmlns:a="http://schemas.openxmlformats.org/drawingml/2006/main">
            <a:pPr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remote witnesses and distributed scale</a:t>
            </a:r>
          </a:p>
          <a:p xmlns:a="http://schemas.openxmlformats.org/drawingml/2006/main">
            <a:pPr>
              <a:defRPr sz="1500" b="0">
                <a:solidFill>
                  <a:srgbClr val="EDF6F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EDF6FA"/>
                </a:solidFill>
                <a:latin typeface="Arial"/>
                <a:ea typeface="Arial"/>
                <a:cs typeface="Arial"/>
              </a:rPr>
              <a:t>full OCSF and native SIEM adapters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BD998-D984-40BF-AE6D-62F886D8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00965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0D6E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0D6ED"/>
                </a:solidFill>
                <a:latin typeface="Arial"/>
                <a:ea typeface="Arial"/>
                <a:cs typeface="Arial"/>
              </a:rPr>
              <a:t>Measured local benchmark: 2,000 events · 2,187.8 events/s · 0.08 ms p95 · proof verified</a:t>
            </a:r>
          </a:p>
        </p:txBody>
      </p:sp>
    </p:spTree>
    <p:extLst>
      <p:ext uri="{BB962C8B-B14F-4D97-AF65-F5344CB8AC3E}">
        <p14:creationId xmlns:p14="http://schemas.microsoft.com/office/powerpoint/2010/main" val="20543542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2026-09-18T08:10:40.7500000Z</dcterms:created>
  <dcterms:modified xsi:type="dcterms:W3CDTF">2026-09-18T08:10:40.7500000Z</dcterms:modified>
</coreProperties>
</file>